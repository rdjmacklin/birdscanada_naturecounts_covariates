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62" r:id="rId4"/>
    <p:sldId id="263" r:id="rId5"/>
    <p:sldId id="264" r:id="rId6"/>
    <p:sldId id="266" r:id="rId7"/>
    <p:sldId id="267" r:id="rId8"/>
    <p:sldId id="268" r:id="rId9"/>
    <p:sldId id="257" r:id="rId10"/>
    <p:sldId id="260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79978" autoAdjust="0"/>
  </p:normalViewPr>
  <p:slideViewPr>
    <p:cSldViewPr snapToGrid="0">
      <p:cViewPr varScale="1">
        <p:scale>
          <a:sx n="92" d="100"/>
          <a:sy n="92" d="100"/>
        </p:scale>
        <p:origin x="120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D668B5-AC46-49DD-A33C-7ED6BF522605}" type="datetimeFigureOut">
              <a:rPr lang="en-CA" smtClean="0"/>
              <a:t>2026-02-27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BACCF-81D1-4733-B578-FB92E2B1D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1506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At</a:t>
            </a:r>
            <a:r>
              <a:rPr lang="en-US" baseline="0" dirty="0" smtClean="0"/>
              <a:t> first glance, satellites and ornithology have very little to do with each other…</a:t>
            </a:r>
          </a:p>
          <a:p>
            <a:endParaRPr lang="en-US" baseline="0" dirty="0" smtClean="0"/>
          </a:p>
          <a:p>
            <a:r>
              <a:rPr lang="en-US" dirty="0" smtClean="0"/>
              <a:t>But, as satellite technology</a:t>
            </a:r>
            <a:r>
              <a:rPr lang="en-US" baseline="0" dirty="0" smtClean="0"/>
              <a:t> and imagery have developed, the data products derived from images from space have become more and more crucial to ecological study.</a:t>
            </a:r>
          </a:p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DBACCF-81D1-4733-B578-FB92E2B1DE8A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7027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Take, for instance, this one site from the British Columbia Marsh Monitoring Program at Beaver Lake in Stanley Park, here in Vancouver, BC.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DBACCF-81D1-4733-B578-FB92E2B1DE8A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564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This</a:t>
            </a:r>
            <a:r>
              <a:rPr lang="en-US" baseline="0" dirty="0" smtClean="0"/>
              <a:t> is what we would see if we were to stand at the site. The Marsh Monitoring Program counter would be able to reliably count the birds that are present in a 100 m radius and with some extra work collect some data to summarize the habitat in that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DBACCF-81D1-4733-B578-FB92E2B1DE8A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31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</a:t>
            </a:r>
            <a:r>
              <a:rPr lang="en-US" baseline="0" dirty="0" smtClean="0"/>
              <a:t> reference, this is what a 100m buffer around that site looks like. While conditions in this area may determine the fine-scale habitat selection decisions that birds make, it is quite likely that birds are also responding to habitat conditions at greater scales.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DBACCF-81D1-4733-B578-FB92E2B1DE8A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35745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Obviously not, this would not be practical.</a:t>
            </a:r>
          </a:p>
          <a:p>
            <a:endParaRPr lang="en-US" baseline="0" dirty="0" smtClean="0"/>
          </a:p>
          <a:p>
            <a:r>
              <a:rPr lang="en-US" baseline="0" dirty="0" smtClean="0"/>
              <a:t>Also, what about the things that a counter can’t directly survey? That year’s rainfall compared to previous rainfall norms, etc.</a:t>
            </a:r>
          </a:p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DBACCF-81D1-4733-B578-FB92E2B1DE8A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61613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DBACCF-81D1-4733-B578-FB92E2B1DE8A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8865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So,</a:t>
            </a:r>
            <a:r>
              <a:rPr lang="en-US" baseline="0" dirty="0" smtClean="0"/>
              <a:t> how do we make these great sources of data more accessible?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DBACCF-81D1-4733-B578-FB92E2B1DE8A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3239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This was a</a:t>
            </a:r>
            <a:r>
              <a:rPr lang="en-US" baseline="0" dirty="0" smtClean="0"/>
              <a:t> guiding question behind a grant we recently received from the CSA. In this grant, we proposed to make satellite data easier to access for end-users of </a:t>
            </a:r>
            <a:r>
              <a:rPr lang="en-US" baseline="0" dirty="0" err="1" smtClean="0"/>
              <a:t>naturecounts</a:t>
            </a:r>
            <a:r>
              <a:rPr lang="en-US" baseline="0" dirty="0" smtClean="0"/>
              <a:t> products in two ways.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DBACCF-81D1-4733-B578-FB92E2B1DE8A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60672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Currently, </a:t>
            </a:r>
            <a:r>
              <a:rPr lang="en-US" i="1" dirty="0" err="1" smtClean="0"/>
              <a:t>naturecounts</a:t>
            </a:r>
            <a:r>
              <a:rPr lang="en-US" dirty="0" smtClean="0"/>
              <a:t> R package primarily used to import data from </a:t>
            </a:r>
            <a:r>
              <a:rPr lang="en-US" dirty="0" err="1" smtClean="0"/>
              <a:t>NatureCounts</a:t>
            </a:r>
            <a:r>
              <a:rPr lang="en-US" dirty="0" smtClean="0"/>
              <a:t> database to R environment.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DBACCF-81D1-4733-B578-FB92E2B1DE8A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8623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EEBD2-A080-4EA0-A047-5FD65707993A}" type="datetimeFigureOut">
              <a:rPr lang="en-CA" smtClean="0"/>
              <a:t>2026-02-27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3F77A-969B-4700-B36B-55050C30AC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1235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EEBD2-A080-4EA0-A047-5FD65707993A}" type="datetimeFigureOut">
              <a:rPr lang="en-CA" smtClean="0"/>
              <a:t>2026-02-27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3F77A-969B-4700-B36B-55050C30AC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4098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EEBD2-A080-4EA0-A047-5FD65707993A}" type="datetimeFigureOut">
              <a:rPr lang="en-CA" smtClean="0"/>
              <a:t>2026-02-27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3F77A-969B-4700-B36B-55050C30AC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3112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EEBD2-A080-4EA0-A047-5FD65707993A}" type="datetimeFigureOut">
              <a:rPr lang="en-CA" smtClean="0"/>
              <a:t>2026-02-27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3F77A-969B-4700-B36B-55050C30AC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8313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EEBD2-A080-4EA0-A047-5FD65707993A}" type="datetimeFigureOut">
              <a:rPr lang="en-CA" smtClean="0"/>
              <a:t>2026-02-27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3F77A-969B-4700-B36B-55050C30AC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1585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EEBD2-A080-4EA0-A047-5FD65707993A}" type="datetimeFigureOut">
              <a:rPr lang="en-CA" smtClean="0"/>
              <a:t>2026-02-27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3F77A-969B-4700-B36B-55050C30AC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468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EEBD2-A080-4EA0-A047-5FD65707993A}" type="datetimeFigureOut">
              <a:rPr lang="en-CA" smtClean="0"/>
              <a:t>2026-02-27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3F77A-969B-4700-B36B-55050C30AC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409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EEBD2-A080-4EA0-A047-5FD65707993A}" type="datetimeFigureOut">
              <a:rPr lang="en-CA" smtClean="0"/>
              <a:t>2026-02-27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3F77A-969B-4700-B36B-55050C30AC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5887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EEBD2-A080-4EA0-A047-5FD65707993A}" type="datetimeFigureOut">
              <a:rPr lang="en-CA" smtClean="0"/>
              <a:t>2026-02-27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3F77A-969B-4700-B36B-55050C30AC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2011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EEBD2-A080-4EA0-A047-5FD65707993A}" type="datetimeFigureOut">
              <a:rPr lang="en-CA" smtClean="0"/>
              <a:t>2026-02-27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3F77A-969B-4700-B36B-55050C30AC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2300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EEBD2-A080-4EA0-A047-5FD65707993A}" type="datetimeFigureOut">
              <a:rPr lang="en-CA" smtClean="0"/>
              <a:t>2026-02-27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3F77A-969B-4700-B36B-55050C30AC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2986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EEBD2-A080-4EA0-A047-5FD65707993A}" type="datetimeFigureOut">
              <a:rPr lang="en-CA" smtClean="0"/>
              <a:t>2026-02-27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3F77A-969B-4700-B36B-55050C30AC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0640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nc-nd/2.0/deed.en" TargetMode="External"/><Relationship Id="rId5" Type="http://schemas.openxmlformats.org/officeDocument/2006/relationships/hyperlink" Target="https://www.flickr.com/photos/canadianveggie/" TargetMode="External"/><Relationship Id="rId4" Type="http://schemas.openxmlformats.org/officeDocument/2006/relationships/hyperlink" Target="https://www.flickr.com/photos/canadianveggie/185607412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/2.0/deed.en" TargetMode="External"/><Relationship Id="rId5" Type="http://schemas.openxmlformats.org/officeDocument/2006/relationships/hyperlink" Target="https://www.flickr.com/photos/gsfc/" TargetMode="External"/><Relationship Id="rId4" Type="http://schemas.openxmlformats.org/officeDocument/2006/relationships/hyperlink" Target="https://www.flickr.com/photos/gsfc/6996099612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 smtClean="0"/>
              <a:t>Rory Macklin</a:t>
            </a:r>
          </a:p>
          <a:p>
            <a:pPr algn="l"/>
            <a:r>
              <a:rPr lang="en-US" dirty="0" smtClean="0"/>
              <a:t>Open Door Science</a:t>
            </a:r>
          </a:p>
          <a:p>
            <a:pPr algn="l"/>
            <a:r>
              <a:rPr lang="en-US" dirty="0" smtClean="0"/>
              <a:t>February 27</a:t>
            </a:r>
            <a:r>
              <a:rPr lang="en-US" baseline="30000" dirty="0" smtClean="0"/>
              <a:t>th</a:t>
            </a:r>
            <a:r>
              <a:rPr lang="en-US" dirty="0" smtClean="0"/>
              <a:t>, 2026</a:t>
            </a:r>
            <a:endParaRPr lang="en-CA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1741335" y="1388211"/>
            <a:ext cx="870932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the </a:t>
            </a: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naturecounts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 package to assess satellite-derived data products for model development.</a:t>
            </a:r>
          </a:p>
        </p:txBody>
      </p:sp>
    </p:spTree>
    <p:extLst>
      <p:ext uri="{BB962C8B-B14F-4D97-AF65-F5344CB8AC3E}">
        <p14:creationId xmlns:p14="http://schemas.microsoft.com/office/powerpoint/2010/main" val="269719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79060"/>
            <a:ext cx="10515600" cy="1325563"/>
          </a:xfrm>
        </p:spPr>
        <p:txBody>
          <a:bodyPr/>
          <a:lstStyle/>
          <a:p>
            <a:pPr algn="ctr"/>
            <a:r>
              <a:rPr lang="en-US" dirty="0" smtClean="0"/>
              <a:t>Why do ornithologists care about satellites?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19983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540" y="0"/>
            <a:ext cx="10130921" cy="6858000"/>
          </a:xfrm>
          <a:prstGeom prst="rect">
            <a:avLst/>
          </a:prstGeom>
        </p:spPr>
      </p:pic>
      <p:sp>
        <p:nvSpPr>
          <p:cNvPr id="7" name="Multiply 6"/>
          <p:cNvSpPr/>
          <p:nvPr/>
        </p:nvSpPr>
        <p:spPr>
          <a:xfrm>
            <a:off x="5535561" y="3165987"/>
            <a:ext cx="747252" cy="747252"/>
          </a:xfrm>
          <a:prstGeom prst="mathMultiply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1910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867" y="0"/>
            <a:ext cx="9144000" cy="6858000"/>
          </a:xfrm>
          <a:prstGeom prst="rect">
            <a:avLst/>
          </a:prstGeom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018179" y="0"/>
            <a:ext cx="461786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“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hlinkClick r:id="rId4" tooltip="Beaver Lake"/>
              </a:rPr>
              <a:t>Beaver Lake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” by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hlinkClick r:id="rId5"/>
              </a:rPr>
              <a:t>Christopher Porter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hlinkClick r:id="rId6"/>
              </a:rPr>
              <a:t>CC BY-NC-ND 2.0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825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327" y="0"/>
            <a:ext cx="1069934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099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79060"/>
            <a:ext cx="10515600" cy="1325563"/>
          </a:xfrm>
        </p:spPr>
        <p:txBody>
          <a:bodyPr/>
          <a:lstStyle/>
          <a:p>
            <a:pPr algn="ctr"/>
            <a:r>
              <a:rPr lang="en-US" dirty="0" smtClean="0"/>
              <a:t>So, time to go and count all those trees?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26237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26" y="1612489"/>
            <a:ext cx="7350793" cy="482272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726" y="286926"/>
            <a:ext cx="10515600" cy="1325563"/>
          </a:xfrm>
        </p:spPr>
        <p:txBody>
          <a:bodyPr/>
          <a:lstStyle/>
          <a:p>
            <a:r>
              <a:rPr lang="en-US" dirty="0" smtClean="0"/>
              <a:t>Eyes in (well, beyond…) the skies</a:t>
            </a:r>
            <a:endParaRPr lang="en-CA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22787" y="6447833"/>
            <a:ext cx="724993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 tooltip="Aqua on the Launch Pad"/>
              </a:rPr>
              <a:t>Aqua on the Launch Pad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 by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NASA Goddard Space Flight Center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CC BY 2.0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50943" y="1494502"/>
            <a:ext cx="35002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Satellite imagery…</a:t>
            </a:r>
          </a:p>
          <a:p>
            <a:endParaRPr lang="en-US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covers broad spatial extents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</a:t>
            </a:r>
            <a:r>
              <a:rPr lang="en-US" sz="2400" dirty="0" smtClean="0"/>
              <a:t>s updatable, covering broad temporal extents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can be processed to map derived measures of habitat (e.g. land cover type, tree density)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6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82" y="164159"/>
            <a:ext cx="5997460" cy="65690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813" y="164159"/>
            <a:ext cx="6445647" cy="65690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8018" y="178241"/>
            <a:ext cx="6199517" cy="654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86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63448"/>
            <a:ext cx="10515600" cy="1325563"/>
          </a:xfrm>
        </p:spPr>
        <p:txBody>
          <a:bodyPr/>
          <a:lstStyle/>
          <a:p>
            <a:pPr algn="ctr"/>
            <a:r>
              <a:rPr lang="en-US" dirty="0" smtClean="0"/>
              <a:t>Canadian Space Agency Grant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1993" y="1936494"/>
            <a:ext cx="4087761" cy="393336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 algn="ctr">
              <a:buNone/>
            </a:pPr>
            <a:r>
              <a:rPr lang="en-US" dirty="0" err="1" smtClean="0"/>
              <a:t>Naturecounts</a:t>
            </a:r>
            <a:r>
              <a:rPr lang="en-US" dirty="0" smtClean="0"/>
              <a:t> App</a:t>
            </a:r>
          </a:p>
          <a:p>
            <a:pPr marL="457200" lvl="1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i="1" dirty="0" smtClean="0"/>
              <a:t>“Develop applications and interfaces to allow external market users to access the SEO integrated tools available in the </a:t>
            </a:r>
            <a:r>
              <a:rPr lang="en-US" i="1" dirty="0" err="1" smtClean="0"/>
              <a:t>NatureCounts</a:t>
            </a:r>
            <a:r>
              <a:rPr lang="en-US" i="1" dirty="0" smtClean="0"/>
              <a:t> mobile application.”</a:t>
            </a:r>
            <a:endParaRPr lang="en-CA" i="1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715433" y="1936493"/>
            <a:ext cx="4087761" cy="39333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i="1" dirty="0" err="1"/>
              <a:t>n</a:t>
            </a:r>
            <a:r>
              <a:rPr lang="en-US" i="1" dirty="0" err="1" smtClean="0"/>
              <a:t>aturecounts</a:t>
            </a:r>
            <a:r>
              <a:rPr lang="en-US" dirty="0" smtClean="0"/>
              <a:t> R Package</a:t>
            </a:r>
          </a:p>
          <a:p>
            <a:pPr lvl="1"/>
            <a:endParaRPr lang="en-US" i="1" dirty="0" smtClean="0"/>
          </a:p>
          <a:p>
            <a:pPr marL="0" indent="0">
              <a:buNone/>
            </a:pPr>
            <a:r>
              <a:rPr lang="en-US" i="1" dirty="0" smtClean="0"/>
              <a:t>“Enable streamlined integration of biodiversity data and SEO, and empower researchers to create innovative solutions to conservation challenges.”</a:t>
            </a:r>
            <a:endParaRPr lang="en-CA" i="1" dirty="0"/>
          </a:p>
        </p:txBody>
      </p:sp>
      <p:sp>
        <p:nvSpPr>
          <p:cNvPr id="6" name="TextBox 5"/>
          <p:cNvSpPr txBox="1"/>
          <p:nvPr/>
        </p:nvSpPr>
        <p:spPr>
          <a:xfrm>
            <a:off x="3173437" y="6164826"/>
            <a:ext cx="5845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SEO = Satellite Earth Observation (i.e., satellite-derived data)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84586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7387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3600" dirty="0" smtClean="0"/>
              <a:t>Could we extend the </a:t>
            </a:r>
            <a:r>
              <a:rPr lang="en-US" sz="3600" i="1" dirty="0" err="1" smtClean="0"/>
              <a:t>naturecounts</a:t>
            </a:r>
            <a:r>
              <a:rPr lang="en-US" sz="3600" dirty="0" smtClean="0"/>
              <a:t> R package so users could easily access satellite-derived data products to accompany their data?</a:t>
            </a:r>
            <a:endParaRPr lang="en-CA" sz="3600" dirty="0"/>
          </a:p>
        </p:txBody>
      </p:sp>
    </p:spTree>
    <p:extLst>
      <p:ext uri="{BB962C8B-B14F-4D97-AF65-F5344CB8AC3E}">
        <p14:creationId xmlns:p14="http://schemas.microsoft.com/office/powerpoint/2010/main" val="2577887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9301727"/>
              </p:ext>
            </p:extLst>
          </p:nvPr>
        </p:nvGraphicFramePr>
        <p:xfrm>
          <a:off x="838200" y="554473"/>
          <a:ext cx="10515600" cy="55850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07589569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004506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3308724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85016758"/>
                    </a:ext>
                  </a:extLst>
                </a:gridCol>
              </a:tblGrid>
              <a:tr h="791507">
                <a:tc>
                  <a:txBody>
                    <a:bodyPr/>
                    <a:lstStyle/>
                    <a:p>
                      <a:r>
                        <a:rPr lang="en-US" dirty="0" smtClean="0"/>
                        <a:t>Data Type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Source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Spatial</a:t>
                      </a:r>
                      <a:r>
                        <a:rPr lang="en-US" baseline="0" dirty="0" smtClean="0"/>
                        <a:t> Resolution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Temporal</a:t>
                      </a:r>
                      <a:r>
                        <a:rPr lang="en-US" baseline="0" dirty="0" smtClean="0"/>
                        <a:t> Resolution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193025"/>
                  </a:ext>
                </a:extLst>
              </a:tr>
              <a:tr h="791507">
                <a:tc>
                  <a:txBody>
                    <a:bodyPr/>
                    <a:lstStyle/>
                    <a:p>
                      <a:r>
                        <a:rPr lang="en-US" dirty="0" smtClean="0"/>
                        <a:t>Land Cover Proportion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MODIS</a:t>
                      </a:r>
                      <a:r>
                        <a:rPr lang="en-US" baseline="0" dirty="0" smtClean="0"/>
                        <a:t> Land Cover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500</a:t>
                      </a:r>
                      <a:r>
                        <a:rPr lang="en-US" baseline="0" dirty="0" smtClean="0"/>
                        <a:t> m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Annual (2001-Present)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834349"/>
                  </a:ext>
                </a:extLst>
              </a:tr>
              <a:tr h="791507">
                <a:tc>
                  <a:txBody>
                    <a:bodyPr/>
                    <a:lstStyle/>
                    <a:p>
                      <a:r>
                        <a:rPr lang="en-US" dirty="0" smtClean="0"/>
                        <a:t>NDVI/EVI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MODIS</a:t>
                      </a:r>
                      <a:r>
                        <a:rPr lang="en-US" baseline="0" dirty="0" smtClean="0"/>
                        <a:t> Vegetation Indices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500 m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16-day (2000-Present)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620662"/>
                  </a:ext>
                </a:extLst>
              </a:tr>
              <a:tr h="791507">
                <a:tc>
                  <a:txBody>
                    <a:bodyPr/>
                    <a:lstStyle/>
                    <a:p>
                      <a:r>
                        <a:rPr lang="en-US" dirty="0" smtClean="0"/>
                        <a:t>Elevation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AWS Terrain Tiles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~600-800m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Static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1111754"/>
                  </a:ext>
                </a:extLst>
              </a:tr>
              <a:tr h="813767">
                <a:tc>
                  <a:txBody>
                    <a:bodyPr/>
                    <a:lstStyle/>
                    <a:p>
                      <a:r>
                        <a:rPr lang="en-US" dirty="0" smtClean="0"/>
                        <a:t>Historical</a:t>
                      </a:r>
                      <a:r>
                        <a:rPr lang="en-US" baseline="0" dirty="0" smtClean="0"/>
                        <a:t> Climate Averages (1970-2000)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WordClim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km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Static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173115"/>
                  </a:ext>
                </a:extLst>
              </a:tr>
              <a:tr h="813767">
                <a:tc>
                  <a:txBody>
                    <a:bodyPr/>
                    <a:lstStyle/>
                    <a:p>
                      <a:r>
                        <a:rPr lang="en-US" dirty="0" smtClean="0"/>
                        <a:t>Forest Biomass, Closure,</a:t>
                      </a:r>
                      <a:r>
                        <a:rPr lang="en-US" baseline="0" dirty="0" smtClean="0"/>
                        <a:t> Height, Species Comp.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SCANFI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30m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Static (2020)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026807"/>
                  </a:ext>
                </a:extLst>
              </a:tr>
              <a:tr h="791507">
                <a:tc>
                  <a:txBody>
                    <a:bodyPr/>
                    <a:lstStyle/>
                    <a:p>
                      <a:r>
                        <a:rPr lang="en-US" dirty="0" smtClean="0"/>
                        <a:t>Weather</a:t>
                      </a:r>
                      <a:r>
                        <a:rPr lang="en-US" baseline="0" dirty="0" smtClean="0"/>
                        <a:t> Conditions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DAYMET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km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Daily (1980-Present)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730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0052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87829"/>
            <a:ext cx="3897086" cy="558913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 err="1" smtClean="0"/>
              <a:t>nc_covariates</a:t>
            </a:r>
            <a:r>
              <a:rPr lang="en-US" dirty="0" smtClean="0"/>
              <a:t>(</a:t>
            </a:r>
            <a:r>
              <a:rPr lang="en-US" dirty="0" smtClean="0">
                <a:solidFill>
                  <a:srgbClr val="FF0000"/>
                </a:solidFill>
              </a:rPr>
              <a:t>data,</a:t>
            </a:r>
            <a:r>
              <a:rPr lang="en-CA" dirty="0" smtClean="0"/>
              <a:t> 	covariates,	 	buffer, 	</a:t>
            </a:r>
            <a:r>
              <a:rPr lang="en-CA" dirty="0" err="1" smtClean="0"/>
              <a:t>buffer_radius</a:t>
            </a:r>
            <a:r>
              <a:rPr lang="en-CA" dirty="0" smtClean="0"/>
              <a:t>, 	</a:t>
            </a:r>
            <a:r>
              <a:rPr lang="en-CA" dirty="0" err="1" smtClean="0"/>
              <a:t>buffer_units</a:t>
            </a:r>
            <a:r>
              <a:rPr lang="en-CA" dirty="0" smtClean="0"/>
              <a:t>,	</a:t>
            </a:r>
            <a:r>
              <a:rPr lang="en-CA" dirty="0" err="1" smtClean="0"/>
              <a:t>site_name</a:t>
            </a:r>
            <a:r>
              <a:rPr lang="en-CA" dirty="0" smtClean="0"/>
              <a:t>, 	</a:t>
            </a:r>
            <a:r>
              <a:rPr lang="en-CA" dirty="0" err="1" smtClean="0"/>
              <a:t>coord_lon</a:t>
            </a:r>
            <a:r>
              <a:rPr lang="en-CA" dirty="0" smtClean="0"/>
              <a:t>, 	</a:t>
            </a:r>
            <a:r>
              <a:rPr lang="en-CA" dirty="0" err="1" smtClean="0"/>
              <a:t>coord_lat</a:t>
            </a:r>
            <a:r>
              <a:rPr lang="en-CA" dirty="0" smtClean="0"/>
              <a:t>, 	</a:t>
            </a:r>
            <a:r>
              <a:rPr lang="en-CA" dirty="0" err="1" smtClean="0"/>
              <a:t>date_year</a:t>
            </a:r>
            <a:r>
              <a:rPr lang="en-CA" dirty="0" smtClean="0"/>
              <a:t>, 	</a:t>
            </a:r>
            <a:r>
              <a:rPr lang="en-CA" dirty="0" err="1" smtClean="0"/>
              <a:t>date_month</a:t>
            </a:r>
            <a:r>
              <a:rPr lang="en-CA" dirty="0" smtClean="0"/>
              <a:t>, 	</a:t>
            </a:r>
            <a:r>
              <a:rPr lang="en-CA" dirty="0" err="1" smtClean="0"/>
              <a:t>date_day</a:t>
            </a:r>
            <a:r>
              <a:rPr lang="en-CA" dirty="0" smtClean="0"/>
              <a:t>, 	</a:t>
            </a:r>
            <a:r>
              <a:rPr lang="en-CA" dirty="0" err="1" smtClean="0"/>
              <a:t>date_lubridate</a:t>
            </a:r>
            <a:r>
              <a:rPr lang="en-CA" dirty="0" smtClean="0"/>
              <a:t>, 	</a:t>
            </a:r>
            <a:r>
              <a:rPr lang="en-CA" dirty="0" err="1" smtClean="0"/>
              <a:t>date_ordinal</a:t>
            </a:r>
            <a:r>
              <a:rPr lang="en-CA" dirty="0" smtClean="0"/>
              <a:t>, 	</a:t>
            </a:r>
            <a:r>
              <a:rPr lang="en-CA" dirty="0" err="1" smtClean="0"/>
              <a:t>crs</a:t>
            </a:r>
            <a:r>
              <a:rPr lang="en-CA" dirty="0" smtClean="0"/>
              <a:t>, ..)</a:t>
            </a:r>
            <a:endParaRPr lang="en-US" dirty="0" smtClean="0"/>
          </a:p>
        </p:txBody>
      </p:sp>
      <p:sp>
        <p:nvSpPr>
          <p:cNvPr id="6" name="Down Arrow 5"/>
          <p:cNvSpPr/>
          <p:nvPr/>
        </p:nvSpPr>
        <p:spPr>
          <a:xfrm rot="5400000">
            <a:off x="4495940" y="48590"/>
            <a:ext cx="342501" cy="165493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/>
          <p:cNvSpPr txBox="1"/>
          <p:nvPr/>
        </p:nvSpPr>
        <p:spPr>
          <a:xfrm>
            <a:off x="5776601" y="587829"/>
            <a:ext cx="5439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Data from </a:t>
            </a:r>
            <a:r>
              <a:rPr lang="en-US" sz="2400" dirty="0" err="1" smtClean="0"/>
              <a:t>NatureCounts</a:t>
            </a:r>
            <a:r>
              <a:rPr lang="en-US" sz="2400" dirty="0" smtClean="0"/>
              <a:t> or another source. Can be a </a:t>
            </a:r>
            <a:r>
              <a:rPr lang="en-US" sz="2400" dirty="0" err="1" smtClean="0"/>
              <a:t>dataframe</a:t>
            </a:r>
            <a:r>
              <a:rPr lang="en-US" sz="2400" dirty="0" smtClean="0"/>
              <a:t>, or an sf/terra spatial object.</a:t>
            </a:r>
            <a:endParaRPr lang="en-CA" sz="24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752396"/>
              </p:ext>
            </p:extLst>
          </p:nvPr>
        </p:nvGraphicFramePr>
        <p:xfrm>
          <a:off x="6237203" y="2052355"/>
          <a:ext cx="4517955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5985">
                  <a:extLst>
                    <a:ext uri="{9D8B030D-6E8A-4147-A177-3AD203B41FA5}">
                      <a16:colId xmlns:a16="http://schemas.microsoft.com/office/drawing/2014/main" val="1760061851"/>
                    </a:ext>
                  </a:extLst>
                </a:gridCol>
                <a:gridCol w="1505985">
                  <a:extLst>
                    <a:ext uri="{9D8B030D-6E8A-4147-A177-3AD203B41FA5}">
                      <a16:colId xmlns:a16="http://schemas.microsoft.com/office/drawing/2014/main" val="2675869117"/>
                    </a:ext>
                  </a:extLst>
                </a:gridCol>
                <a:gridCol w="1505985">
                  <a:extLst>
                    <a:ext uri="{9D8B030D-6E8A-4147-A177-3AD203B41FA5}">
                      <a16:colId xmlns:a16="http://schemas.microsoft.com/office/drawing/2014/main" val="22492435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SiteCode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survey_year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733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ABCD-1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2021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458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ABCD-1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2022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873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ABCD-2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2022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267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ABCD-3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2022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081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ABCD-3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2023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739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6896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87829"/>
            <a:ext cx="3897086" cy="558913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 err="1" smtClean="0"/>
              <a:t>nc_covariates</a:t>
            </a:r>
            <a:r>
              <a:rPr lang="en-US" dirty="0" smtClean="0"/>
              <a:t>(data,</a:t>
            </a:r>
            <a:r>
              <a:rPr lang="en-CA" dirty="0" smtClean="0"/>
              <a:t> 	</a:t>
            </a:r>
            <a:r>
              <a:rPr lang="en-CA" dirty="0" smtClean="0">
                <a:solidFill>
                  <a:srgbClr val="FF0000"/>
                </a:solidFill>
              </a:rPr>
              <a:t>covariates,</a:t>
            </a:r>
            <a:r>
              <a:rPr lang="en-CA" dirty="0" smtClean="0"/>
              <a:t>	 	buffer, 	</a:t>
            </a:r>
            <a:r>
              <a:rPr lang="en-CA" dirty="0" err="1" smtClean="0"/>
              <a:t>buffer_radius</a:t>
            </a:r>
            <a:r>
              <a:rPr lang="en-CA" dirty="0" smtClean="0"/>
              <a:t>, 	</a:t>
            </a:r>
            <a:r>
              <a:rPr lang="en-CA" dirty="0" err="1" smtClean="0"/>
              <a:t>buffer_units</a:t>
            </a:r>
            <a:r>
              <a:rPr lang="en-CA" dirty="0" smtClean="0"/>
              <a:t>,	</a:t>
            </a:r>
            <a:r>
              <a:rPr lang="en-CA" dirty="0" err="1" smtClean="0"/>
              <a:t>site_name</a:t>
            </a:r>
            <a:r>
              <a:rPr lang="en-CA" dirty="0" smtClean="0"/>
              <a:t>, 	</a:t>
            </a:r>
            <a:r>
              <a:rPr lang="en-CA" dirty="0" err="1" smtClean="0"/>
              <a:t>coord_lon</a:t>
            </a:r>
            <a:r>
              <a:rPr lang="en-CA" dirty="0" smtClean="0"/>
              <a:t>, 	</a:t>
            </a:r>
            <a:r>
              <a:rPr lang="en-CA" dirty="0" err="1" smtClean="0"/>
              <a:t>coord_lat</a:t>
            </a:r>
            <a:r>
              <a:rPr lang="en-CA" dirty="0" smtClean="0"/>
              <a:t>, 	</a:t>
            </a:r>
            <a:r>
              <a:rPr lang="en-CA" dirty="0" err="1" smtClean="0"/>
              <a:t>date_year</a:t>
            </a:r>
            <a:r>
              <a:rPr lang="en-CA" dirty="0" smtClean="0"/>
              <a:t>, 	</a:t>
            </a:r>
            <a:r>
              <a:rPr lang="en-CA" dirty="0" err="1" smtClean="0"/>
              <a:t>date_month</a:t>
            </a:r>
            <a:r>
              <a:rPr lang="en-CA" dirty="0" smtClean="0"/>
              <a:t>, 	</a:t>
            </a:r>
            <a:r>
              <a:rPr lang="en-CA" dirty="0" err="1" smtClean="0"/>
              <a:t>date_day</a:t>
            </a:r>
            <a:r>
              <a:rPr lang="en-CA" dirty="0" smtClean="0"/>
              <a:t>, 	</a:t>
            </a:r>
            <a:r>
              <a:rPr lang="en-CA" dirty="0" err="1" smtClean="0"/>
              <a:t>date_lubridate</a:t>
            </a:r>
            <a:r>
              <a:rPr lang="en-CA" dirty="0" smtClean="0"/>
              <a:t>, 	</a:t>
            </a:r>
            <a:r>
              <a:rPr lang="en-CA" dirty="0" err="1" smtClean="0"/>
              <a:t>date_ordinal</a:t>
            </a:r>
            <a:r>
              <a:rPr lang="en-CA" dirty="0" smtClean="0"/>
              <a:t>, 	</a:t>
            </a:r>
            <a:r>
              <a:rPr lang="en-CA" dirty="0" err="1" smtClean="0"/>
              <a:t>crs</a:t>
            </a:r>
            <a:r>
              <a:rPr lang="en-CA" dirty="0" smtClean="0"/>
              <a:t>, …)</a:t>
            </a:r>
            <a:endParaRPr lang="en-US" dirty="0" smtClean="0"/>
          </a:p>
        </p:txBody>
      </p:sp>
      <p:sp>
        <p:nvSpPr>
          <p:cNvPr id="6" name="Down Arrow 5"/>
          <p:cNvSpPr/>
          <p:nvPr/>
        </p:nvSpPr>
        <p:spPr>
          <a:xfrm rot="5400000">
            <a:off x="4193300" y="400048"/>
            <a:ext cx="314939" cy="165493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/>
          <p:cNvSpPr txBox="1"/>
          <p:nvPr/>
        </p:nvSpPr>
        <p:spPr>
          <a:xfrm>
            <a:off x="5348815" y="604568"/>
            <a:ext cx="48165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List of desired covariates. Multiple sources can be listed.</a:t>
            </a:r>
          </a:p>
          <a:p>
            <a:endParaRPr lang="en-US" sz="2400" dirty="0"/>
          </a:p>
          <a:p>
            <a:r>
              <a:rPr lang="en-US" sz="2400" dirty="0" smtClean="0"/>
              <a:t>e.g. c(“elevation”, “modis_lctype1”)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1021325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87829"/>
            <a:ext cx="3897086" cy="558913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 err="1" smtClean="0"/>
              <a:t>nc_covariates</a:t>
            </a:r>
            <a:r>
              <a:rPr lang="en-US" dirty="0" smtClean="0"/>
              <a:t>(data,</a:t>
            </a:r>
            <a:r>
              <a:rPr lang="en-CA" dirty="0" smtClean="0"/>
              <a:t> 	covariates,	 	</a:t>
            </a:r>
            <a:r>
              <a:rPr lang="en-CA" dirty="0" smtClean="0">
                <a:solidFill>
                  <a:srgbClr val="FF0000"/>
                </a:solidFill>
              </a:rPr>
              <a:t>buffer, 	</a:t>
            </a:r>
            <a:r>
              <a:rPr lang="en-CA" dirty="0" err="1" smtClean="0">
                <a:solidFill>
                  <a:srgbClr val="FF0000"/>
                </a:solidFill>
              </a:rPr>
              <a:t>buffer_radius</a:t>
            </a:r>
            <a:r>
              <a:rPr lang="en-CA" dirty="0" smtClean="0">
                <a:solidFill>
                  <a:srgbClr val="FF0000"/>
                </a:solidFill>
              </a:rPr>
              <a:t>, 	</a:t>
            </a:r>
            <a:r>
              <a:rPr lang="en-CA" dirty="0" err="1" smtClean="0">
                <a:solidFill>
                  <a:srgbClr val="FF0000"/>
                </a:solidFill>
              </a:rPr>
              <a:t>buffer_units</a:t>
            </a:r>
            <a:r>
              <a:rPr lang="en-CA" dirty="0" smtClean="0">
                <a:solidFill>
                  <a:srgbClr val="FF0000"/>
                </a:solidFill>
              </a:rPr>
              <a:t>,</a:t>
            </a:r>
            <a:r>
              <a:rPr lang="en-CA" dirty="0" smtClean="0"/>
              <a:t>	</a:t>
            </a:r>
            <a:r>
              <a:rPr lang="en-CA" dirty="0" err="1" smtClean="0"/>
              <a:t>site_name</a:t>
            </a:r>
            <a:r>
              <a:rPr lang="en-CA" dirty="0" smtClean="0"/>
              <a:t>, 	</a:t>
            </a:r>
            <a:r>
              <a:rPr lang="en-CA" dirty="0" err="1" smtClean="0"/>
              <a:t>coord_lon</a:t>
            </a:r>
            <a:r>
              <a:rPr lang="en-CA" dirty="0" smtClean="0"/>
              <a:t>, 	</a:t>
            </a:r>
            <a:r>
              <a:rPr lang="en-CA" dirty="0" err="1" smtClean="0"/>
              <a:t>coord_lat</a:t>
            </a:r>
            <a:r>
              <a:rPr lang="en-CA" dirty="0" smtClean="0"/>
              <a:t>, 	</a:t>
            </a:r>
            <a:r>
              <a:rPr lang="en-CA" dirty="0" err="1" smtClean="0"/>
              <a:t>date_year</a:t>
            </a:r>
            <a:r>
              <a:rPr lang="en-CA" dirty="0" smtClean="0"/>
              <a:t>, 	</a:t>
            </a:r>
            <a:r>
              <a:rPr lang="en-CA" dirty="0" err="1" smtClean="0"/>
              <a:t>date_month</a:t>
            </a:r>
            <a:r>
              <a:rPr lang="en-CA" dirty="0" smtClean="0"/>
              <a:t>, 	</a:t>
            </a:r>
            <a:r>
              <a:rPr lang="en-CA" dirty="0" err="1" smtClean="0"/>
              <a:t>date_day</a:t>
            </a:r>
            <a:r>
              <a:rPr lang="en-CA" dirty="0" smtClean="0"/>
              <a:t>, 	</a:t>
            </a:r>
            <a:r>
              <a:rPr lang="en-CA" dirty="0" err="1" smtClean="0"/>
              <a:t>date_lubridate</a:t>
            </a:r>
            <a:r>
              <a:rPr lang="en-CA" dirty="0" smtClean="0"/>
              <a:t>, 	</a:t>
            </a:r>
            <a:r>
              <a:rPr lang="en-CA" dirty="0" err="1" smtClean="0"/>
              <a:t>date_ordinal</a:t>
            </a:r>
            <a:r>
              <a:rPr lang="en-CA" dirty="0" smtClean="0"/>
              <a:t>, 	</a:t>
            </a:r>
            <a:r>
              <a:rPr lang="en-CA" dirty="0" err="1" smtClean="0"/>
              <a:t>crs</a:t>
            </a:r>
            <a:r>
              <a:rPr lang="en-CA" dirty="0" smtClean="0"/>
              <a:t>, …)</a:t>
            </a:r>
            <a:endParaRPr lang="en-US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4606769" y="1384984"/>
            <a:ext cx="30294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Should sites be buffered? By what radius?</a:t>
            </a:r>
            <a:endParaRPr lang="en-CA" sz="2400" dirty="0"/>
          </a:p>
        </p:txBody>
      </p:sp>
      <p:sp>
        <p:nvSpPr>
          <p:cNvPr id="2" name="Right Brace 1"/>
          <p:cNvSpPr/>
          <p:nvPr/>
        </p:nvSpPr>
        <p:spPr>
          <a:xfrm>
            <a:off x="3910519" y="1384984"/>
            <a:ext cx="350195" cy="1200329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2672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87829"/>
            <a:ext cx="3897086" cy="558913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 err="1" smtClean="0"/>
              <a:t>nc_covariates</a:t>
            </a:r>
            <a:r>
              <a:rPr lang="en-US" dirty="0" smtClean="0"/>
              <a:t>(data,</a:t>
            </a:r>
            <a:r>
              <a:rPr lang="en-CA" dirty="0" smtClean="0"/>
              <a:t> 	covariates,	 	buffer, 	</a:t>
            </a:r>
            <a:r>
              <a:rPr lang="en-CA" dirty="0" err="1" smtClean="0"/>
              <a:t>buffer_radius</a:t>
            </a:r>
            <a:r>
              <a:rPr lang="en-CA" dirty="0" smtClean="0"/>
              <a:t>, 	</a:t>
            </a:r>
            <a:r>
              <a:rPr lang="en-CA" dirty="0" err="1" smtClean="0"/>
              <a:t>buffer_units</a:t>
            </a:r>
            <a:r>
              <a:rPr lang="en-CA" dirty="0" smtClean="0"/>
              <a:t>,	</a:t>
            </a:r>
            <a:r>
              <a:rPr lang="en-CA" dirty="0" err="1" smtClean="0">
                <a:solidFill>
                  <a:srgbClr val="FF0000"/>
                </a:solidFill>
              </a:rPr>
              <a:t>site_name</a:t>
            </a:r>
            <a:r>
              <a:rPr lang="en-CA" dirty="0" smtClean="0">
                <a:solidFill>
                  <a:srgbClr val="FF0000"/>
                </a:solidFill>
              </a:rPr>
              <a:t>, 	</a:t>
            </a:r>
            <a:r>
              <a:rPr lang="en-CA" dirty="0" err="1" smtClean="0">
                <a:solidFill>
                  <a:srgbClr val="FF0000"/>
                </a:solidFill>
              </a:rPr>
              <a:t>coord_lon</a:t>
            </a:r>
            <a:r>
              <a:rPr lang="en-CA" dirty="0" smtClean="0">
                <a:solidFill>
                  <a:srgbClr val="FF0000"/>
                </a:solidFill>
              </a:rPr>
              <a:t>, 	</a:t>
            </a:r>
            <a:r>
              <a:rPr lang="en-CA" dirty="0" err="1" smtClean="0">
                <a:solidFill>
                  <a:srgbClr val="FF0000"/>
                </a:solidFill>
              </a:rPr>
              <a:t>coord_lat</a:t>
            </a:r>
            <a:r>
              <a:rPr lang="en-CA" dirty="0" smtClean="0">
                <a:solidFill>
                  <a:srgbClr val="FF0000"/>
                </a:solidFill>
              </a:rPr>
              <a:t>,</a:t>
            </a:r>
            <a:r>
              <a:rPr lang="en-CA" dirty="0" smtClean="0"/>
              <a:t> 	</a:t>
            </a:r>
            <a:r>
              <a:rPr lang="en-CA" dirty="0" err="1" smtClean="0">
                <a:solidFill>
                  <a:srgbClr val="FF0000"/>
                </a:solidFill>
              </a:rPr>
              <a:t>date_year</a:t>
            </a:r>
            <a:r>
              <a:rPr lang="en-CA" dirty="0" smtClean="0">
                <a:solidFill>
                  <a:srgbClr val="FF0000"/>
                </a:solidFill>
              </a:rPr>
              <a:t>, 	</a:t>
            </a:r>
            <a:r>
              <a:rPr lang="en-CA" dirty="0" err="1" smtClean="0">
                <a:solidFill>
                  <a:srgbClr val="FF0000"/>
                </a:solidFill>
              </a:rPr>
              <a:t>date_month</a:t>
            </a:r>
            <a:r>
              <a:rPr lang="en-CA" dirty="0" smtClean="0">
                <a:solidFill>
                  <a:srgbClr val="FF0000"/>
                </a:solidFill>
              </a:rPr>
              <a:t>, 	</a:t>
            </a:r>
            <a:r>
              <a:rPr lang="en-CA" dirty="0" err="1" smtClean="0">
                <a:solidFill>
                  <a:srgbClr val="FF0000"/>
                </a:solidFill>
              </a:rPr>
              <a:t>date_day</a:t>
            </a:r>
            <a:r>
              <a:rPr lang="en-CA" dirty="0" smtClean="0">
                <a:solidFill>
                  <a:srgbClr val="FF0000"/>
                </a:solidFill>
              </a:rPr>
              <a:t>, </a:t>
            </a:r>
            <a:r>
              <a:rPr lang="en-CA" dirty="0" smtClean="0"/>
              <a:t>	</a:t>
            </a:r>
            <a:r>
              <a:rPr lang="en-CA" dirty="0" err="1" smtClean="0"/>
              <a:t>date_lubridate</a:t>
            </a:r>
            <a:r>
              <a:rPr lang="en-CA" dirty="0" smtClean="0"/>
              <a:t>, 	</a:t>
            </a:r>
            <a:r>
              <a:rPr lang="en-CA" dirty="0" err="1" smtClean="0"/>
              <a:t>date_ordinal</a:t>
            </a:r>
            <a:r>
              <a:rPr lang="en-CA" dirty="0" smtClean="0"/>
              <a:t>, 	</a:t>
            </a:r>
            <a:r>
              <a:rPr lang="en-CA" dirty="0" err="1" smtClean="0"/>
              <a:t>crs</a:t>
            </a:r>
            <a:r>
              <a:rPr lang="en-CA" dirty="0" smtClean="0"/>
              <a:t>, …)</a:t>
            </a:r>
            <a:endParaRPr lang="en-US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5063969" y="3145124"/>
            <a:ext cx="30294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If column names differ from BMDE format, specify them here.</a:t>
            </a:r>
            <a:endParaRPr lang="en-CA" sz="2400" dirty="0"/>
          </a:p>
        </p:txBody>
      </p:sp>
      <p:sp>
        <p:nvSpPr>
          <p:cNvPr id="2" name="Right Brace 1"/>
          <p:cNvSpPr/>
          <p:nvPr/>
        </p:nvSpPr>
        <p:spPr>
          <a:xfrm>
            <a:off x="4385091" y="2597567"/>
            <a:ext cx="350195" cy="2266264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4093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87829"/>
            <a:ext cx="3897086" cy="558913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 err="1" smtClean="0"/>
              <a:t>nc_covariates</a:t>
            </a:r>
            <a:r>
              <a:rPr lang="en-US" dirty="0" smtClean="0"/>
              <a:t>(data,</a:t>
            </a:r>
            <a:r>
              <a:rPr lang="en-CA" dirty="0" smtClean="0"/>
              <a:t> 	covariates,	 	buffer, 	</a:t>
            </a:r>
            <a:r>
              <a:rPr lang="en-CA" dirty="0" err="1" smtClean="0"/>
              <a:t>buffer_radius</a:t>
            </a:r>
            <a:r>
              <a:rPr lang="en-CA" dirty="0" smtClean="0"/>
              <a:t>, 	</a:t>
            </a:r>
            <a:r>
              <a:rPr lang="en-CA" dirty="0" err="1" smtClean="0"/>
              <a:t>buffer_units</a:t>
            </a:r>
            <a:r>
              <a:rPr lang="en-CA" dirty="0" smtClean="0"/>
              <a:t>,	</a:t>
            </a:r>
            <a:r>
              <a:rPr lang="en-CA" dirty="0" err="1" smtClean="0"/>
              <a:t>site_name</a:t>
            </a:r>
            <a:r>
              <a:rPr lang="en-CA" dirty="0" smtClean="0"/>
              <a:t>, 	</a:t>
            </a:r>
            <a:r>
              <a:rPr lang="en-CA" dirty="0" err="1" smtClean="0"/>
              <a:t>coord_lon</a:t>
            </a:r>
            <a:r>
              <a:rPr lang="en-CA" dirty="0" smtClean="0"/>
              <a:t>, 	</a:t>
            </a:r>
            <a:r>
              <a:rPr lang="en-CA" dirty="0" err="1" smtClean="0"/>
              <a:t>coord_lat</a:t>
            </a:r>
            <a:r>
              <a:rPr lang="en-CA" dirty="0" smtClean="0"/>
              <a:t>, 	</a:t>
            </a:r>
            <a:r>
              <a:rPr lang="en-CA" dirty="0" err="1" smtClean="0"/>
              <a:t>date_year</a:t>
            </a:r>
            <a:r>
              <a:rPr lang="en-CA" dirty="0" smtClean="0"/>
              <a:t>, 	</a:t>
            </a:r>
            <a:r>
              <a:rPr lang="en-CA" dirty="0" err="1" smtClean="0"/>
              <a:t>date_month</a:t>
            </a:r>
            <a:r>
              <a:rPr lang="en-CA" dirty="0" smtClean="0"/>
              <a:t>, 	</a:t>
            </a:r>
            <a:r>
              <a:rPr lang="en-CA" dirty="0" err="1" smtClean="0"/>
              <a:t>date_day</a:t>
            </a:r>
            <a:r>
              <a:rPr lang="en-CA" dirty="0" smtClean="0"/>
              <a:t>, 	</a:t>
            </a:r>
            <a:r>
              <a:rPr lang="en-CA" dirty="0" err="1" smtClean="0">
                <a:solidFill>
                  <a:srgbClr val="FF0000"/>
                </a:solidFill>
              </a:rPr>
              <a:t>date_lubridate</a:t>
            </a:r>
            <a:r>
              <a:rPr lang="en-CA" dirty="0" smtClean="0">
                <a:solidFill>
                  <a:srgbClr val="FF0000"/>
                </a:solidFill>
              </a:rPr>
              <a:t>, 	</a:t>
            </a:r>
            <a:r>
              <a:rPr lang="en-CA" dirty="0" err="1" smtClean="0">
                <a:solidFill>
                  <a:srgbClr val="FF0000"/>
                </a:solidFill>
              </a:rPr>
              <a:t>date_ordinal</a:t>
            </a:r>
            <a:r>
              <a:rPr lang="en-CA" dirty="0" smtClean="0">
                <a:solidFill>
                  <a:srgbClr val="FF0000"/>
                </a:solidFill>
              </a:rPr>
              <a:t>, </a:t>
            </a:r>
            <a:r>
              <a:rPr lang="en-CA" dirty="0" smtClean="0"/>
              <a:t>	</a:t>
            </a:r>
            <a:r>
              <a:rPr lang="en-CA" dirty="0" err="1" smtClean="0"/>
              <a:t>crs</a:t>
            </a:r>
            <a:r>
              <a:rPr lang="en-CA" dirty="0" smtClean="0"/>
              <a:t>, …)</a:t>
            </a:r>
            <a:endParaRPr lang="en-US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4976421" y="4486005"/>
            <a:ext cx="30294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If your date data is in </a:t>
            </a:r>
            <a:r>
              <a:rPr lang="en-US" sz="2400" dirty="0" err="1" smtClean="0"/>
              <a:t>lubridate</a:t>
            </a:r>
            <a:r>
              <a:rPr lang="en-US" sz="2400" dirty="0" smtClean="0"/>
              <a:t> or ordinal format, provide column names here.</a:t>
            </a:r>
            <a:endParaRPr lang="en-CA" sz="2400" dirty="0"/>
          </a:p>
        </p:txBody>
      </p:sp>
      <p:sp>
        <p:nvSpPr>
          <p:cNvPr id="2" name="Right Brace 1"/>
          <p:cNvSpPr/>
          <p:nvPr/>
        </p:nvSpPr>
        <p:spPr>
          <a:xfrm>
            <a:off x="4374335" y="4893012"/>
            <a:ext cx="350195" cy="755647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854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87829"/>
            <a:ext cx="3897086" cy="558913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 err="1" smtClean="0"/>
              <a:t>nc_covariates</a:t>
            </a:r>
            <a:r>
              <a:rPr lang="en-US" dirty="0" smtClean="0"/>
              <a:t>(data,</a:t>
            </a:r>
            <a:r>
              <a:rPr lang="en-CA" dirty="0" smtClean="0"/>
              <a:t> 	covariates,	 	buffer, 	</a:t>
            </a:r>
            <a:r>
              <a:rPr lang="en-CA" dirty="0" err="1" smtClean="0"/>
              <a:t>buffer_radius</a:t>
            </a:r>
            <a:r>
              <a:rPr lang="en-CA" dirty="0" smtClean="0"/>
              <a:t>, 	</a:t>
            </a:r>
            <a:r>
              <a:rPr lang="en-CA" dirty="0" err="1" smtClean="0"/>
              <a:t>buffer_units</a:t>
            </a:r>
            <a:r>
              <a:rPr lang="en-CA" dirty="0" smtClean="0"/>
              <a:t>,	</a:t>
            </a:r>
            <a:r>
              <a:rPr lang="en-CA" dirty="0" err="1" smtClean="0"/>
              <a:t>site_name</a:t>
            </a:r>
            <a:r>
              <a:rPr lang="en-CA" dirty="0" smtClean="0"/>
              <a:t>, 	</a:t>
            </a:r>
            <a:r>
              <a:rPr lang="en-CA" dirty="0" err="1" smtClean="0"/>
              <a:t>coord_lon</a:t>
            </a:r>
            <a:r>
              <a:rPr lang="en-CA" dirty="0" smtClean="0"/>
              <a:t>, 	</a:t>
            </a:r>
            <a:r>
              <a:rPr lang="en-CA" dirty="0" err="1" smtClean="0"/>
              <a:t>coord_lat</a:t>
            </a:r>
            <a:r>
              <a:rPr lang="en-CA" dirty="0" smtClean="0"/>
              <a:t>, 	</a:t>
            </a:r>
            <a:r>
              <a:rPr lang="en-CA" dirty="0" err="1" smtClean="0"/>
              <a:t>date_year</a:t>
            </a:r>
            <a:r>
              <a:rPr lang="en-CA" dirty="0" smtClean="0"/>
              <a:t>, 	</a:t>
            </a:r>
            <a:r>
              <a:rPr lang="en-CA" dirty="0" err="1" smtClean="0"/>
              <a:t>date_month</a:t>
            </a:r>
            <a:r>
              <a:rPr lang="en-CA" dirty="0" smtClean="0"/>
              <a:t>, 	</a:t>
            </a:r>
            <a:r>
              <a:rPr lang="en-CA" dirty="0" err="1" smtClean="0"/>
              <a:t>date_day</a:t>
            </a:r>
            <a:r>
              <a:rPr lang="en-CA" dirty="0" smtClean="0"/>
              <a:t>, 	</a:t>
            </a:r>
            <a:r>
              <a:rPr lang="en-CA" dirty="0" err="1" smtClean="0"/>
              <a:t>date_lubridate</a:t>
            </a:r>
            <a:r>
              <a:rPr lang="en-CA" dirty="0" smtClean="0"/>
              <a:t>, 	</a:t>
            </a:r>
            <a:r>
              <a:rPr lang="en-CA" dirty="0" err="1" smtClean="0"/>
              <a:t>date_ordinal</a:t>
            </a:r>
            <a:r>
              <a:rPr lang="en-CA" dirty="0" smtClean="0"/>
              <a:t>, 	</a:t>
            </a:r>
            <a:r>
              <a:rPr lang="en-CA" dirty="0" err="1" smtClean="0">
                <a:solidFill>
                  <a:srgbClr val="FF0000"/>
                </a:solidFill>
              </a:rPr>
              <a:t>crs</a:t>
            </a:r>
            <a:r>
              <a:rPr lang="en-CA" dirty="0" smtClean="0">
                <a:solidFill>
                  <a:srgbClr val="FF0000"/>
                </a:solidFill>
              </a:rPr>
              <a:t>,</a:t>
            </a:r>
            <a:r>
              <a:rPr lang="en-CA" dirty="0" smtClean="0"/>
              <a:t> …)</a:t>
            </a:r>
            <a:endParaRPr lang="en-US" dirty="0" smtClean="0"/>
          </a:p>
        </p:txBody>
      </p:sp>
      <p:sp>
        <p:nvSpPr>
          <p:cNvPr id="6" name="Down Arrow 5"/>
          <p:cNvSpPr/>
          <p:nvPr/>
        </p:nvSpPr>
        <p:spPr>
          <a:xfrm rot="5400000">
            <a:off x="4144662" y="5020686"/>
            <a:ext cx="314939" cy="165493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/>
          <p:cNvSpPr txBox="1"/>
          <p:nvPr/>
        </p:nvSpPr>
        <p:spPr>
          <a:xfrm>
            <a:off x="5290449" y="5247987"/>
            <a:ext cx="45539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Coordinate reference system of your data (if different from standard </a:t>
            </a:r>
            <a:r>
              <a:rPr lang="en-US" sz="2400" dirty="0" err="1" smtClean="0"/>
              <a:t>lat</a:t>
            </a:r>
            <a:r>
              <a:rPr lang="en-US" sz="2400" dirty="0" smtClean="0"/>
              <a:t>/long, EPSG:4326).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2343810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87829"/>
            <a:ext cx="3897086" cy="558913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 err="1" smtClean="0"/>
              <a:t>nc_covariates</a:t>
            </a:r>
            <a:r>
              <a:rPr lang="en-US" dirty="0" smtClean="0"/>
              <a:t>(data,</a:t>
            </a:r>
            <a:r>
              <a:rPr lang="en-CA" dirty="0" smtClean="0"/>
              <a:t> 	covariates,	 	buffer, 	</a:t>
            </a:r>
            <a:r>
              <a:rPr lang="en-CA" dirty="0" err="1" smtClean="0"/>
              <a:t>buffer_radius</a:t>
            </a:r>
            <a:r>
              <a:rPr lang="en-CA" dirty="0" smtClean="0"/>
              <a:t>, 	</a:t>
            </a:r>
            <a:r>
              <a:rPr lang="en-CA" dirty="0" err="1" smtClean="0"/>
              <a:t>buffer_units</a:t>
            </a:r>
            <a:r>
              <a:rPr lang="en-CA" dirty="0" smtClean="0"/>
              <a:t>,	</a:t>
            </a:r>
            <a:r>
              <a:rPr lang="en-CA" dirty="0" err="1" smtClean="0"/>
              <a:t>site_name</a:t>
            </a:r>
            <a:r>
              <a:rPr lang="en-CA" dirty="0" smtClean="0"/>
              <a:t>, 	</a:t>
            </a:r>
            <a:r>
              <a:rPr lang="en-CA" dirty="0" err="1" smtClean="0"/>
              <a:t>coord_lon</a:t>
            </a:r>
            <a:r>
              <a:rPr lang="en-CA" dirty="0" smtClean="0"/>
              <a:t>, 	</a:t>
            </a:r>
            <a:r>
              <a:rPr lang="en-CA" dirty="0" err="1" smtClean="0"/>
              <a:t>coord_lat</a:t>
            </a:r>
            <a:r>
              <a:rPr lang="en-CA" dirty="0" smtClean="0"/>
              <a:t>, 	</a:t>
            </a:r>
            <a:r>
              <a:rPr lang="en-CA" dirty="0" err="1" smtClean="0"/>
              <a:t>date_year</a:t>
            </a:r>
            <a:r>
              <a:rPr lang="en-CA" dirty="0" smtClean="0"/>
              <a:t>, 	</a:t>
            </a:r>
            <a:r>
              <a:rPr lang="en-CA" dirty="0" err="1" smtClean="0"/>
              <a:t>date_month</a:t>
            </a:r>
            <a:r>
              <a:rPr lang="en-CA" dirty="0" smtClean="0"/>
              <a:t>, 	</a:t>
            </a:r>
            <a:r>
              <a:rPr lang="en-CA" dirty="0" err="1" smtClean="0"/>
              <a:t>date_day</a:t>
            </a:r>
            <a:r>
              <a:rPr lang="en-CA" dirty="0" smtClean="0"/>
              <a:t>, 	</a:t>
            </a:r>
            <a:r>
              <a:rPr lang="en-CA" dirty="0" err="1" smtClean="0"/>
              <a:t>date_lubridate</a:t>
            </a:r>
            <a:r>
              <a:rPr lang="en-CA" dirty="0" smtClean="0"/>
              <a:t>, 	</a:t>
            </a:r>
            <a:r>
              <a:rPr lang="en-CA" dirty="0" err="1" smtClean="0"/>
              <a:t>date_ordinal</a:t>
            </a:r>
            <a:r>
              <a:rPr lang="en-CA" dirty="0" smtClean="0"/>
              <a:t>, 	</a:t>
            </a:r>
            <a:r>
              <a:rPr lang="en-CA" dirty="0" err="1" smtClean="0"/>
              <a:t>crs</a:t>
            </a:r>
            <a:r>
              <a:rPr lang="en-CA" dirty="0" smtClean="0"/>
              <a:t>, ..)</a:t>
            </a:r>
            <a:endParaRPr lang="en-US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4912468" y="1014624"/>
            <a:ext cx="61962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Result: your original data returned with the new columns appended according to site and date.</a:t>
            </a:r>
            <a:endParaRPr lang="en-CA" sz="24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390932"/>
              </p:ext>
            </p:extLst>
          </p:nvPr>
        </p:nvGraphicFramePr>
        <p:xfrm>
          <a:off x="4395743" y="2029225"/>
          <a:ext cx="7229737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72">
                  <a:extLst>
                    <a:ext uri="{9D8B030D-6E8A-4147-A177-3AD203B41FA5}">
                      <a16:colId xmlns:a16="http://schemas.microsoft.com/office/drawing/2014/main" val="1760061851"/>
                    </a:ext>
                  </a:extLst>
                </a:gridCol>
                <a:gridCol w="1609372">
                  <a:extLst>
                    <a:ext uri="{9D8B030D-6E8A-4147-A177-3AD203B41FA5}">
                      <a16:colId xmlns:a16="http://schemas.microsoft.com/office/drawing/2014/main" val="2675869117"/>
                    </a:ext>
                  </a:extLst>
                </a:gridCol>
                <a:gridCol w="791138">
                  <a:extLst>
                    <a:ext uri="{9D8B030D-6E8A-4147-A177-3AD203B41FA5}">
                      <a16:colId xmlns:a16="http://schemas.microsoft.com/office/drawing/2014/main" val="2249243545"/>
                    </a:ext>
                  </a:extLst>
                </a:gridCol>
                <a:gridCol w="1556425">
                  <a:extLst>
                    <a:ext uri="{9D8B030D-6E8A-4147-A177-3AD203B41FA5}">
                      <a16:colId xmlns:a16="http://schemas.microsoft.com/office/drawing/2014/main" val="1695320596"/>
                    </a:ext>
                  </a:extLst>
                </a:gridCol>
                <a:gridCol w="1663430">
                  <a:extLst>
                    <a:ext uri="{9D8B030D-6E8A-4147-A177-3AD203B41FA5}">
                      <a16:colId xmlns:a16="http://schemas.microsoft.com/office/drawing/2014/main" val="1083348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SiteCode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survey_year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elevation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lctype1_urban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733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ABCD-1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2021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199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0.1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458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ABCD-1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2022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199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0.15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873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ABCD-2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2022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206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267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ABCD-3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2022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53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0.40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081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ABCD-3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2023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53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0.5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739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2475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Feedback?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Any data sources you’d like to see included?</a:t>
            </a:r>
          </a:p>
          <a:p>
            <a:r>
              <a:rPr lang="en-US" dirty="0"/>
              <a:t>How will this tool be helpful for your programs</a:t>
            </a:r>
            <a:r>
              <a:rPr lang="en-US" dirty="0" smtClean="0"/>
              <a:t>?</a:t>
            </a:r>
          </a:p>
          <a:p>
            <a:r>
              <a:rPr lang="en-US" dirty="0" smtClean="0"/>
              <a:t>Any options or tools you would like to see developed similar in scope?</a:t>
            </a:r>
          </a:p>
        </p:txBody>
      </p:sp>
    </p:spTree>
    <p:extLst>
      <p:ext uri="{BB962C8B-B14F-4D97-AF65-F5344CB8AC3E}">
        <p14:creationId xmlns:p14="http://schemas.microsoft.com/office/powerpoint/2010/main" val="907456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1036</Words>
  <Application>Microsoft Office PowerPoint</Application>
  <PresentationFormat>Widescreen</PresentationFormat>
  <Paragraphs>133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Using the naturecounts R package to assess satellite-derived data products for model development.</vt:lpstr>
      <vt:lpstr>Why do ornithologists care about satellites?</vt:lpstr>
      <vt:lpstr>PowerPoint Presentation</vt:lpstr>
      <vt:lpstr>PowerPoint Presentation</vt:lpstr>
      <vt:lpstr>PowerPoint Presentation</vt:lpstr>
      <vt:lpstr>So, time to go and count all those trees?</vt:lpstr>
      <vt:lpstr>Eyes in (well, beyond…) the skies</vt:lpstr>
      <vt:lpstr>PowerPoint Presentation</vt:lpstr>
      <vt:lpstr>Canadian Space Agency Grant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Feedback?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the naturecounts R package to assess satellite-derived data products for model development.</dc:title>
  <dc:creator>Rory Macklin</dc:creator>
  <cp:lastModifiedBy>Rory Macklin</cp:lastModifiedBy>
  <cp:revision>18</cp:revision>
  <dcterms:created xsi:type="dcterms:W3CDTF">2026-02-25T18:31:22Z</dcterms:created>
  <dcterms:modified xsi:type="dcterms:W3CDTF">2026-02-27T20:15:54Z</dcterms:modified>
</cp:coreProperties>
</file>